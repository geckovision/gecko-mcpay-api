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731520"/>
            <a:ext cx="146304" cy="146304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1280160"/>
            <a:ext cx="91440" cy="9144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1920240"/>
            <a:ext cx="109728" cy="109728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2560320"/>
            <a:ext cx="73152" cy="73152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3200400"/>
            <a:ext cx="128016" cy="128016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3931920"/>
            <a:ext cx="91440" cy="9144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GECKO PROTOCOL · SOLANA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Arial"/>
              </a:rPr>
              <a:t>The brand</a:t>
            </a:r>
          </a:p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Arial"/>
              </a:rPr>
              <a:t>cannot cancel.</a:t>
            </a:r>
          </a:p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Arial"/>
              </a:rPr>
              <a:t>The code says 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5EAF2"/>
                </a:solidFill>
                <a:latin typeface="Calibri"/>
              </a:rPr>
              <a:t>A programmable deal primitive on Solana. Brands lock campaign budgets in smart-contract vaults. Creators get paid automatically. The program enforces everything.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2697480" cy="8686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513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B6BFF"/>
                </a:solidFill>
                <a:latin typeface="Arial"/>
              </a:rPr>
              <a:t>$21B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AAE"/>
                </a:solidFill>
                <a:latin typeface="Calibri"/>
              </a:rPr>
              <a:t>Global influencer marketing spend ·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5440680"/>
            <a:ext cx="2697480" cy="8686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5513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B6BFF"/>
                </a:solidFill>
                <a:latin typeface="Arial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943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AAE"/>
                </a:solidFill>
                <a:latin typeface="Calibri"/>
              </a:rPr>
              <a:t>Creators report late or missing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440680"/>
            <a:ext cx="2697480" cy="8686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5513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B6BFF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943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AAE"/>
                </a:solidFill>
                <a:latin typeface="Calibri"/>
              </a:rPr>
              <a:t>On-chain enforcement solutions today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5440680"/>
            <a:ext cx="2697480" cy="8686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5513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B6BFF"/>
                </a:solidFill>
                <a:latin typeface="Arial"/>
              </a:rPr>
              <a:t>30d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943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AAE"/>
                </a:solidFill>
                <a:latin typeface="Calibri"/>
              </a:rPr>
              <a:t>Minimum cliff enforced by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+ gecko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8A9AAE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02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CREATOR MARKETING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RUNS ON TRUST. TRUST FAILS.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Deals close with email, screenshots, and PDFs. Neither side has enforceable recourse when things go wrong — and they often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54680"/>
            <a:ext cx="53949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19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182C"/>
                </a:solidFill>
                <a:latin typeface="Calibri"/>
              </a:rPr>
              <a:t>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31927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Arial"/>
              </a:rPr>
              <a:t>Brands get ghosted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68503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Creator takes the brief, goes dark after the first post. No on-chain proof, no enforceable contract, no automatic remedy.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154680"/>
            <a:ext cx="53949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319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182C"/>
                </a:solidFill>
                <a:latin typeface="Calibri"/>
              </a:rP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31927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Arial"/>
              </a:rPr>
              <a:t>Creators get stiffed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68503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Net-30 becomes net-never. Brands renegotiate after delivery or disappear. 67% of creators report this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3949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365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182C"/>
                </a:solidFill>
                <a:latin typeface="Calibri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7365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Arial"/>
              </a:rPr>
              <a:t>Contracts are decorative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0235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PDF agreements are expensive to enforce. Legal action costs more than most brand deals are worth.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572000"/>
            <a:ext cx="53949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7365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182C"/>
                </a:solidFill>
                <a:latin typeface="Calibri"/>
              </a:rPr>
              <a:t>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7365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Arial"/>
              </a:rPr>
              <a:t>No performance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10235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Brands pay upfront blind — no oracle-verified engagement, no milestone logic, no conditional release.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36576" cy="274320"/>
          </a:xfrm>
          <a:prstGeom prst="rect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15391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A6B80"/>
                </a:solidFill>
                <a:latin typeface="Calibri"/>
              </a:rPr>
              <a:t>"I delivered 12 posts over 6 weeks. They paid 40% and ghosted. There was nothing I could do."  — Tier-2 creator, 280K followers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82C"/>
                </a:solidFill>
                <a:latin typeface="Arial"/>
              </a:rPr>
              <a:t>+ gecko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5A6B80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03 · 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IT ISN'T TRANSPARENCY.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IT'S ENFORCEABILITY.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Every competitor frames this as a payment-transparency problem. They ship dashboards and escrow UIs. The root issue: neither side has a credible commitment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54680"/>
            <a:ext cx="557784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154680"/>
            <a:ext cx="5577840" cy="502920"/>
          </a:xfrm>
          <a:prstGeom prst="roundRect">
            <a:avLst/>
          </a:prstGeom>
          <a:solidFill>
            <a:srgbClr val="FE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735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EF4444"/>
                </a:solidFill>
                <a:latin typeface="Arial"/>
              </a:rPr>
              <a:t>✕  EVERY OTHER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1304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1304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Escrow a human can override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7880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7880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Dashboards showing "transparent" payment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4456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4456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PDF contracts with no automatic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1032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1032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Platform middleman who can be pressured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7608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7608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Funds accessible to brand at any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4184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4184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Creator has no leverage after 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54680"/>
            <a:ext cx="5577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3154680"/>
            <a:ext cx="5577840" cy="50292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735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2B6BFF"/>
                </a:solidFill>
                <a:latin typeface="Arial"/>
              </a:rPr>
              <a:t>✓  GECKO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1304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6BFF"/>
                </a:solidFill>
                <a:latin typeface="Calibr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81304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Program rejects early withdrawal — not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7880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6BFF"/>
                </a:solidFill>
                <a:latin typeface="Calibri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7880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Cliff enforced by Clock::get(), not a human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4456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6BFF"/>
                </a:solidFill>
                <a:latin typeface="Calibr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54456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Yield routed automatically by the 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1032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6BFF"/>
                </a:solidFill>
                <a:latin typeface="Calibr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91032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Oracle scores drive milestone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7608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6BFF"/>
                </a:solidFill>
                <a:latin typeface="Calibr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7608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Principal locked from day one — auditable on-chain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64184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6BFF"/>
                </a:solidFill>
                <a:latin typeface="Calibr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4184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Creator sees funds locked before doing any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82C"/>
                </a:solidFill>
                <a:latin typeface="Arial"/>
              </a:rPr>
              <a:t>+ gecko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5A6B80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04 ·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ONE PROGRAM.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FIVE GUARANTEES.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8A9AAE"/>
                </a:solidFill>
                <a:latin typeface="Calibri"/>
              </a:rPr>
              <a:t>Gecko isn't a payment app. It's a programmable commitment layer — a smart contract that makes the deal enforceable by construction.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37560"/>
            <a:ext cx="2231136" cy="301752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3538728"/>
            <a:ext cx="411480" cy="41148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5478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Brand locks USDC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54880"/>
            <a:ext cx="177393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Funds locked with a 30-day minimum cliff. Brand cannot retrieve 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943600"/>
            <a:ext cx="1773936" cy="256032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A8FF"/>
                </a:solidFill>
                <a:latin typeface="Consolas"/>
              </a:rPr>
              <a:t>init_and_deposit — atomic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3337560"/>
            <a:ext cx="2231136" cy="3017520"/>
          </a:xfrm>
          <a:prstGeom prst="roundRect">
            <a:avLst/>
          </a:prstGeom>
          <a:solidFill>
            <a:srgbClr val="142540"/>
          </a:solidFill>
          <a:ln w="19050">
            <a:solidFill>
              <a:srgbClr val="14B8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26664" y="3538728"/>
            <a:ext cx="411480" cy="411480"/>
          </a:xfrm>
          <a:prstGeom prst="ellipse">
            <a:avLst/>
          </a:prstGeom>
          <a:solidFill>
            <a:srgbClr val="14B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35478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411480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10% advance on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4754880"/>
            <a:ext cx="177393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On set-live each creator receives 10% automatically — before posting anything.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26664" y="5943600"/>
            <a:ext cx="1773936" cy="256032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3824" y="5943600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A8FF"/>
                </a:solidFill>
                <a:latin typeface="Consolas"/>
              </a:rPr>
              <a:t>triggerAdvancePayment — advanceBps: 1000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8" y="3337560"/>
            <a:ext cx="2231136" cy="301752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67528" y="3538728"/>
            <a:ext cx="411480" cy="41148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35478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11480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Creators 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754880"/>
            <a:ext cx="177393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Added on-chain with allocation_bps summing to 100%. Funds visible before accepting.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67528" y="5943600"/>
            <a:ext cx="1773936" cy="256032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4688" y="5943600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A8FF"/>
                </a:solidFill>
                <a:latin typeface="Consolas"/>
              </a:rPr>
              <a:t>add_creator — allocation_bps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3337560"/>
            <a:ext cx="2231136" cy="301752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8392" y="3538728"/>
            <a:ext cx="411480" cy="41148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5478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411480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Yield 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754880"/>
            <a:ext cx="177393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Proportional yield distributed every epoch. Protocol fee to treasury. Principal never touched.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8392" y="5943600"/>
            <a:ext cx="1773936" cy="256032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5552" y="5943600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A8FF"/>
                </a:solidFill>
                <a:latin typeface="Consolas"/>
              </a:rPr>
              <a:t>route_yield — per epoch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0656" y="3337560"/>
            <a:ext cx="2231136" cy="301752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49256" y="3538728"/>
            <a:ext cx="411480" cy="41148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6" y="35478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56" y="411480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Milestones unlock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9256" y="4754880"/>
            <a:ext cx="177393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Oracle scores drive automatic tranche release when engagement threshold is met.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9256" y="5943600"/>
            <a:ext cx="1773936" cy="256032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6" y="5943600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A8FF"/>
                </a:solidFill>
                <a:latin typeface="Consolas"/>
              </a:rPr>
              <a:t>release_milestone — score_threshold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+ gecko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8A9AAE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05 ·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THREE LAYERS.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ONE PRIMITIVE.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On-chain program → API layer → SDK. Each independently useful; together they make Gecko embeddable in any creator platform in 10 lines of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5486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558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A182C"/>
                </a:solidFill>
                <a:latin typeface="Calibri"/>
              </a:rPr>
              <a:t>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Consolas"/>
              </a:rPr>
              <a:t>gecko-vault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93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5A6B80"/>
                </a:solidFill>
                <a:latin typeface="Calibri"/>
              </a:rPr>
              <a:t>Anchor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429000"/>
            <a:ext cx="1828800" cy="256032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34290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B6BFF"/>
                </a:solidFill>
                <a:latin typeface="Consolas"/>
              </a:rPr>
              <a:t>Eeyc1A…WNeSh3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V1 + V2 + V3 instructions. Vault lifecycle, oracle scores, confidence pool. Deployed on Solana devnet.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337560"/>
            <a:ext cx="502920" cy="502920"/>
          </a:xfrm>
          <a:prstGeom prst="ellipse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558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A182C"/>
                </a:solidFill>
                <a:latin typeface="Calibri"/>
              </a:rP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291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Consolas"/>
              </a:rPr>
              <a:t>gecko-creators-api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593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5A6B80"/>
                </a:solidFill>
                <a:latin typeface="Calibri"/>
              </a:rPr>
              <a:t>Express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3429000"/>
            <a:ext cx="1828800" cy="256032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34290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B6BFF"/>
                </a:solidFill>
                <a:latin typeface="Consolas"/>
              </a:rPr>
              <a:t>REST · 4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Transaction builder. Automated yield distribution. Helius webhook receiver. Partner registry with HMAC.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09160"/>
            <a:ext cx="5486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560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A182C"/>
                </a:solidFill>
                <a:latin typeface="Calibri"/>
              </a:rP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92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Consolas"/>
              </a:rPr>
              <a:t>gecko-creator-sdk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937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5A6B80"/>
                </a:solidFill>
                <a:latin typeface="Calibri"/>
              </a:rPr>
              <a:t>TypeScript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5029200"/>
            <a:ext cx="1828800" cy="256032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50292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B6BFF"/>
                </a:solidFill>
                <a:latin typeface="Consolas"/>
              </a:rPr>
              <a:t>Public on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createCampaign() + addCreators() + getVault() + closeVault(). Any Solana wallet adapter.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709160"/>
            <a:ext cx="5486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4937760"/>
            <a:ext cx="502920" cy="502920"/>
          </a:xfrm>
          <a:prstGeom prst="ellipse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560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A182C"/>
                </a:solidFill>
                <a:latin typeface="Calibri"/>
              </a:rPr>
              <a:t>🖥️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892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82C"/>
                </a:solidFill>
                <a:latin typeface="Consolas"/>
              </a:rPr>
              <a:t>gecko-creators-app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1937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5A6B80"/>
                </a:solidFill>
                <a:latin typeface="Calibri"/>
              </a:rPr>
              <a:t>Next.js 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5029200"/>
            <a:ext cx="1828800" cy="256032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50292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B6BFF"/>
                </a:solidFill>
                <a:latin typeface="Consolas"/>
              </a:rPr>
              <a:t>App Router · RSC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5321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Sponsor + creator dashboards. Campaign wizard. Vault lock panel. Partner portal. Privy embedded wallets.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82C"/>
                </a:solidFill>
                <a:latin typeface="Arial"/>
              </a:rPr>
              <a:t>+ gecko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5A6B80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06 · 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ZERO WINNERS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HAVE BUILT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Analysis of 5,400+ Colosseum hackathon projects shows zero winners in creator-campaign enforcement. Gecko mirrors what winners do differently.  — Source: Colosseum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743200" cy="41148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3200400"/>
            <a:ext cx="4343400" cy="411480"/>
          </a:xfrm>
          <a:prstGeom prst="rect">
            <a:avLst/>
          </a:prstGeom>
          <a:solidFill>
            <a:srgbClr val="FE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3200400"/>
            <a:ext cx="4343400" cy="411480"/>
          </a:xfrm>
          <a:prstGeom prst="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5A6B80"/>
                </a:solidFill>
                <a:latin typeface="Arial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EF4444"/>
                </a:solidFill>
                <a:latin typeface="Arial"/>
              </a:rPr>
              <a:t>COMPETITORS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329184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2B6BFF"/>
                </a:solidFill>
                <a:latin typeface="Arial"/>
              </a:rPr>
              <a:t>GECKO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11430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182C"/>
                </a:solidFill>
                <a:latin typeface="Calibri"/>
              </a:rPr>
              <a:t>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Platform policy + 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370332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On-chain program — CliffNotElapsed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1430000" cy="41148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182C"/>
                </a:solidFill>
                <a:latin typeface="Calibri"/>
              </a:rPr>
              <a:t>Creator advance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11480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None — pay after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411480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10% advance on launch — automatic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11430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182C"/>
                </a:solidFill>
                <a:latin typeface="Calibri"/>
              </a:rPr>
              <a:t>Oracle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52628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452628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SquadScore PDA — milestone 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430000" cy="41148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182C"/>
                </a:solidFill>
                <a:latin typeface="Calibri"/>
              </a:rPr>
              <a:t>Yield on principal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93776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Funds sit idle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493776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Kamino lending — 8% simulated APY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11430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182C"/>
                </a:solidFill>
                <a:latin typeface="Calibri"/>
              </a:rPr>
              <a:t>Capital 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34924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Optional / revocable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534924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Locked from day one — unruggable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9280"/>
            <a:ext cx="11430000" cy="41148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182C"/>
                </a:solidFill>
                <a:latin typeface="Calibri"/>
              </a:rPr>
              <a:t>Squad campaigns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76072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Individual payments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576072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182C"/>
                </a:solidFill>
                <a:latin typeface="Calibri"/>
              </a:rPr>
              <a:t>allocation_bps — split on-chain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82C"/>
                </a:solidFill>
                <a:latin typeface="Arial"/>
              </a:rPr>
              <a:t>+ gecko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5A6B80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07 ·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$21B MARKET.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NO ENFORCEMENT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8A9AAE"/>
                </a:solidFill>
                <a:latin typeface="Calibri"/>
              </a:rPr>
              <a:t>Total addressable = global influencer marketing. Serviceable = the mid-market tier where enforcement risk is highest and tooling is worst.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29000"/>
            <a:ext cx="3657600" cy="20116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429000"/>
            <a:ext cx="73152" cy="2011680"/>
          </a:xfrm>
          <a:prstGeom prst="rect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2B6BFF"/>
                </a:solidFill>
                <a:latin typeface="Arial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$21B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8A9AAE"/>
                </a:solidFill>
                <a:latin typeface="Calibri"/>
              </a:rPr>
              <a:t>Global influencer marketing spend (2025)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429000"/>
            <a:ext cx="3657600" cy="20116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429000"/>
            <a:ext cx="73152" cy="2011680"/>
          </a:xfrm>
          <a:prstGeom prst="rect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9945FF"/>
                </a:solidFill>
                <a:latin typeface="Arial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9319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$4.2B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800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8A9AAE"/>
                </a:solidFill>
                <a:latin typeface="Calibri"/>
              </a:rPr>
              <a:t>Mid-market brand campaigns where enforcement matters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429000"/>
            <a:ext cx="3657600" cy="20116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342900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59E0B"/>
                </a:solidFill>
                <a:latin typeface="Arial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319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$42M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800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8A9AAE"/>
                </a:solidFill>
                <a:latin typeface="Calibri"/>
              </a:rPr>
              <a:t>1% of SAM via protocol fee on locked TVL · Year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69280"/>
            <a:ext cx="2697480" cy="59436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790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B6BFF"/>
                </a:solidFill>
                <a:latin typeface="Arial"/>
              </a:rPr>
              <a:t>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8521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A9AAE"/>
                </a:solidFill>
                <a:latin typeface="Calibri"/>
              </a:rPr>
              <a:t>Protocol fee on yield per epoch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5669280"/>
            <a:ext cx="2697480" cy="59436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57790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B6BFF"/>
                </a:solidFill>
                <a:latin typeface="Arial"/>
              </a:rPr>
              <a:t>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8521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A9AAE"/>
                </a:solidFill>
                <a:latin typeface="Calibri"/>
              </a:rPr>
              <a:t>Kamino APY on locked principal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5669280"/>
            <a:ext cx="2697480" cy="59436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7790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B6BFF"/>
                </a:solidFill>
                <a:latin typeface="Arial"/>
              </a:rPr>
              <a:t>30d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8521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A9AAE"/>
                </a:solidFill>
                <a:latin typeface="Calibri"/>
              </a:rPr>
              <a:t>Min TVL lock · on-chain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5669280"/>
            <a:ext cx="2697480" cy="59436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57790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B6BFF"/>
                </a:solidFill>
                <a:latin typeface="Arial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58521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A9AAE"/>
                </a:solidFill>
                <a:latin typeface="Calibri"/>
              </a:rPr>
              <a:t>Max creators per squad (v1)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+ gecko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8A9AAE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08 ·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THREE REVENUE STREAMS.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ALL ON-CHAIN NATIVE.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Revenue scales linearly with TVL — not headcount. Every campaign that moves money produces fee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3749039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A182C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199" y="34747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2B6BFF"/>
                </a:solidFill>
                <a:latin typeface="Arial"/>
              </a:rPr>
              <a:t>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82C"/>
                </a:solidFill>
                <a:latin typeface="Arial"/>
              </a:rPr>
              <a:t>Protocol Yield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2003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Every route_yield call deducts 2% before creator payout. Scales with active campaigns.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3200399" cy="45720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50992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182C"/>
                </a:solidFill>
                <a:latin typeface="Consolas"/>
              </a:rPr>
              <a:t>$500K TVL × 8% APY × 2% = $800/yr per cohort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3200400"/>
            <a:ext cx="3749039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3474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A182C"/>
                </a:solidFill>
                <a:latin typeface="Calibri"/>
              </a:rPr>
              <a:t>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8" y="34747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2B6BFF"/>
                </a:solidFill>
                <a:latin typeface="Arial"/>
              </a:rPr>
              <a:t>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411480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82C"/>
                </a:solidFill>
                <a:latin typeface="Arial"/>
              </a:rPr>
              <a:t>Advance Payout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4572000"/>
            <a:ext cx="32003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Per creator per campaign launch. Triggered once; scales with campaign count, not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39" y="5577840"/>
            <a:ext cx="3200399" cy="45720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9" y="5650992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182C"/>
                </a:solidFill>
                <a:latin typeface="Consolas"/>
              </a:rPr>
              <a:t>$10K campaign · 3 creators → $15 per set-live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38" y="3200400"/>
            <a:ext cx="3749039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58" y="3474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A182C"/>
                </a:solidFill>
                <a:latin typeface="Calibri"/>
              </a:rP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7" y="34747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2B6BFF"/>
                </a:solidFill>
                <a:latin typeface="Arial"/>
              </a:rPr>
              <a:t>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8" y="411480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82C"/>
                </a:solidFill>
                <a:latin typeface="Arial"/>
              </a:rPr>
              <a:t>Partner API Subscription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8" y="4572000"/>
            <a:ext cx="32003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A6B80"/>
                </a:solidFill>
                <a:latin typeface="Calibri"/>
              </a:rPr>
              <a:t>Platforms embedding the SDK pay monthly for webhook delivery, oracle feeds, priority rate limits.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58" y="5577840"/>
            <a:ext cx="3200399" cy="45720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18" y="5650992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182C"/>
                </a:solidFill>
                <a:latin typeface="Consolas"/>
              </a:rPr>
              <a:t>$99/mo Starter · $499/mo Growth · 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82C"/>
                </a:solidFill>
                <a:latin typeface="Arial"/>
              </a:rPr>
              <a:t>+ gecko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5A6B80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09 ·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0A182C"/>
                </a:solidFill>
                <a:latin typeface="Arial"/>
              </a:rPr>
              <a:t>PROTOCOL-FIRST.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0A182C"/>
                </a:solidFill>
                <a:latin typeface="Arial"/>
              </a:rPr>
              <a:t>PARTNERS BRING THE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The SDK + webhook system lets existing platforms embed Gecko and bring their own creator and brand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46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B6BFF"/>
                </a:solidFill>
                <a:latin typeface="Arial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82C"/>
                </a:solidFill>
                <a:latin typeface="Arial"/>
              </a:rPr>
              <a:t>Hackathon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Colosseum, Superteam, DeFi-native brands. Crypto-native operators comfortable with on-chain commitments.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2697480" cy="36576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2B6BFF"/>
                </a:solidFill>
                <a:latin typeface="Arial"/>
              </a:rPr>
              <a:t>3 paid pilots · $5K–$10K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3246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B6BFF"/>
                </a:solidFill>
                <a:latin typeface="Arial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36118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82C"/>
                </a:solidFill>
                <a:latin typeface="Arial"/>
              </a:rPr>
              <a:t>SDK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416052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Platforms with existing creator networks embed the SDK. They onboard; Gecko enforces.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5120640"/>
            <a:ext cx="2697480" cy="36576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2B6BFF"/>
                </a:solidFill>
                <a:latin typeface="Arial"/>
              </a:rPr>
              <a:t>Trexx (LATAM esports) · Lurkit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246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B6BFF"/>
                </a:solidFill>
                <a:latin typeface="Arial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36118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82C"/>
                </a:solidFill>
                <a:latin typeface="Arial"/>
              </a:rPr>
              <a:t>DeFi 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416052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Tier 1 DeFi protocols run campaigns to grow TVL. Large budgets, crypto-native teams.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5120640"/>
            <a:ext cx="2697480" cy="36576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2B6BFF"/>
                </a:solidFill>
                <a:latin typeface="Arial"/>
              </a:rPr>
              <a:t>Kamino · Tensor · Drift · Orca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246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B6BFF"/>
                </a:solidFill>
                <a:latin typeface="Arial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36118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182C"/>
                </a:solidFill>
                <a:latin typeface="Arial"/>
              </a:rPr>
              <a:t>Creator-Led Inbound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416052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A6B80"/>
                </a:solidFill>
                <a:latin typeface="Calibri"/>
              </a:rPr>
              <a:t>High-reputation creators share public profiles. Brands filter by verified oracle score. Flywheel kicks 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5120640"/>
            <a:ext cx="2697480" cy="365760"/>
          </a:xfrm>
          <a:prstGeom prst="roundRect">
            <a:avLst/>
          </a:prstGeom>
          <a:solidFill>
            <a:srgbClr val="E6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2B6BFF"/>
                </a:solidFill>
                <a:latin typeface="Arial"/>
              </a:rPr>
              <a:t>ReputationAccount PDA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0720"/>
            <a:ext cx="11430000" cy="548640"/>
          </a:xfrm>
          <a:prstGeom prst="roundRect">
            <a:avLst/>
          </a:prstGeom>
          <a:solidFill>
            <a:srgbClr val="0A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ICP PRIORITY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8887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Arial"/>
              </a:rPr>
              <a:t>★★★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90702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DeFi protocols · $10K–$100K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8887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Arial"/>
              </a:rPr>
              <a:t>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90702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Esports / gaming · $5K–$25K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8887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Arial"/>
              </a:rPr>
              <a:t>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590702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Web3 game studios · $5K–$50K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58887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Arial"/>
              </a:rPr>
              <a:t>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590702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Web2 brands · $50K–$500K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82C"/>
                </a:solidFill>
                <a:latin typeface="Arial"/>
              </a:rPr>
              <a:t>+ gecko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5A6B80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10 ·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20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LIVE ON DEVNET.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A182C"/>
                </a:solidFill>
                <a:latin typeface="Arial"/>
              </a:rPr>
              <a:t>FULL STACK SHIPPED.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Production quality across 4 repositories. Every instruction deployed and tested. SDK public. API running. Dashboards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2B6BFF"/>
                </a:solidFill>
                <a:latin typeface="Arial"/>
              </a:rPr>
              <a:t>BUILT ON   ·   Anchor 0.32   ·   Kamino   ·   Helius   ·   Privy   ·   Supabase   ·   Next.js 16   ·   Rust 1.89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46120"/>
            <a:ext cx="548640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3520440"/>
            <a:ext cx="384048" cy="384048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520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3832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2B6BFF"/>
                </a:solidFill>
                <a:latin typeface="Arial"/>
              </a:rPr>
              <a:t>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593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82C"/>
                </a:solidFill>
                <a:latin typeface="Arial"/>
              </a:rPr>
              <a:t>gecko-vault on Solana devnet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A6B80"/>
                </a:solidFill>
                <a:latin typeface="Consolas"/>
              </a:rPr>
              <a:t>V1 + V2 + V3 instructions. Program: Eeyc1A…WNeSh3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48640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3520440"/>
            <a:ext cx="384048" cy="384048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520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33832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2B6BFF"/>
                </a:solidFill>
                <a:latin typeface="Arial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3593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82C"/>
                </a:solidFill>
                <a:latin typeface="Arial"/>
              </a:rPr>
              <a:t>Full transaction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A6B80"/>
                </a:solidFill>
                <a:latin typeface="Consolas"/>
              </a:rPr>
              <a:t>init_and_deposit → addCreators → advance → route_yield → release_milestone → close_vault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88536"/>
            <a:ext cx="548640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4562856"/>
            <a:ext cx="384048" cy="384048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5628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425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2B6BFF"/>
                </a:solidFill>
                <a:latin typeface="Arial"/>
              </a:rPr>
              <a:t>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6360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82C"/>
                </a:solidFill>
                <a:latin typeface="Arial"/>
              </a:rPr>
              <a:t>gecko-creator-sdk on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892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A6B80"/>
                </a:solidFill>
                <a:latin typeface="Consolas"/>
              </a:rPr>
              <a:t>createCampaign() in 10 lines. Any Solana wallet adapter.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288536"/>
            <a:ext cx="548640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3368" y="4562856"/>
            <a:ext cx="384048" cy="384048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5628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4425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2B6BFF"/>
                </a:solidFill>
                <a:latin typeface="Arial"/>
              </a:rPr>
              <a:t>RUNNING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46360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82C"/>
                </a:solidFill>
                <a:latin typeface="Arial"/>
              </a:rPr>
              <a:t>Partner webhook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4892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A6B80"/>
                </a:solidFill>
                <a:latin typeface="Consolas"/>
              </a:rPr>
              <a:t>HMAC-signed delivery. 4 event types (started, released, scored, closed).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30952"/>
            <a:ext cx="548640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" y="5605272"/>
            <a:ext cx="384048" cy="384048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6052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54681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2B6BFF"/>
                </a:solidFill>
                <a:latin typeface="Arial"/>
              </a:rPr>
              <a:t>INTEGRATED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6784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82C"/>
                </a:solidFill>
                <a:latin typeface="Arial"/>
              </a:rPr>
              <a:t>Oracle score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5934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A6B80"/>
                </a:solidFill>
                <a:latin typeface="Consolas"/>
              </a:rPr>
              <a:t>SquadScore PDA → oracle bridge → automatic milestone release.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330952"/>
            <a:ext cx="548640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73368" y="5605272"/>
            <a:ext cx="384048" cy="384048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56052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2" y="54681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2B6BFF"/>
                </a:solidFill>
                <a:latin typeface="Arial"/>
              </a:rPr>
              <a:t>SHIPPED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56784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82C"/>
                </a:solidFill>
                <a:latin typeface="Arial"/>
              </a:rPr>
              <a:t>Sponsor + creator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432" y="5934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A6B80"/>
                </a:solidFill>
                <a:latin typeface="Consolas"/>
              </a:rPr>
              <a:t>Wizard · vault lock panel · earnings · confidence pool · partner portal.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82C"/>
                </a:solidFill>
                <a:latin typeface="Arial"/>
              </a:rPr>
              <a:t>+ gecko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5A6B80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11 ·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058400" cy="1084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ENGINEERING MEETS OPERATIONS.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ONE TEAM THAT SHIPS AND CLOSES.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8A9AAE"/>
                </a:solidFill>
                <a:latin typeface="Calibri"/>
              </a:rPr>
              <a:t>Two founders: one builds the on-chain primitive, one turns the thesis into pilots, partners and narrative.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46120"/>
            <a:ext cx="5577840" cy="324612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3703320"/>
            <a:ext cx="914400" cy="91440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74904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Ernani Britto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42062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B6BFF"/>
                </a:solidFill>
                <a:latin typeface="Arial"/>
              </a:rPr>
              <a:t>ENGINEERING &amp; INFRA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956048"/>
            <a:ext cx="73152" cy="73152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46320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5EAF2"/>
                </a:solidFill>
                <a:latin typeface="Calibri"/>
              </a:rPr>
              <a:t>Builds reliable on-chain + automation systems under real constraints.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431536"/>
            <a:ext cx="73152" cy="73152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321808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5EAF2"/>
                </a:solidFill>
                <a:latin typeface="Calibri"/>
              </a:rPr>
              <a:t>Ships validation, scoring, and payout flows end-to-end.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907024"/>
            <a:ext cx="73152" cy="73152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797296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5EAF2"/>
                </a:solidFill>
                <a:latin typeface="Calibri"/>
              </a:rPr>
              <a:t>Built a no-code AI training tool with the founding team. Former Santander &amp; Itaú engineer.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5577840" cy="324612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3703320"/>
            <a:ext cx="914400" cy="914400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7033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4904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Leticia Almeida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2062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B6BFF"/>
                </a:solidFill>
                <a:latin typeface="Arial"/>
              </a:rPr>
              <a:t>PRODUCT &amp; OPERATIONS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4956048"/>
            <a:ext cx="73152" cy="73152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846320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5EAF2"/>
                </a:solidFill>
                <a:latin typeface="Calibri"/>
              </a:rPr>
              <a:t>Turns the thesis into execution. Defines playbooks, metrics, user flow, and narrative.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5431536"/>
            <a:ext cx="73152" cy="73152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321808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5EAF2"/>
                </a:solidFill>
                <a:latin typeface="Calibri"/>
              </a:rPr>
              <a:t>Helps operate a high-trust Corinthians fan community — proving ground for creator access and retention.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5907024"/>
            <a:ext cx="73152" cy="73152"/>
          </a:xfrm>
          <a:prstGeom prst="ellipse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797296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5EAF2"/>
                </a:solidFill>
                <a:latin typeface="Calibri"/>
              </a:rPr>
              <a:t>Led open innovation design at Liga Ventures for Suvini (BASF), Saint-Gobain, Sodexo, Mercedes-Benz.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+ gecko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8A9AAE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2B6BFF"/>
                </a:solidFill>
                <a:latin typeface="Arial"/>
              </a:rPr>
              <a:t>12 ·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50">
                <a:solidFill>
                  <a:srgbClr val="FFFFFF"/>
                </a:solidFill>
                <a:latin typeface="Arial"/>
              </a:rPr>
              <a:t>WE'RE RAISING TO GO TO MAINNET.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0" b="1" i="0">
                <a:solidFill>
                  <a:srgbClr val="2B6BFF"/>
                </a:solidFill>
                <a:latin typeface="Arial"/>
              </a:rPr>
              <a:t>$200,000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5EAF2"/>
                </a:solidFill>
                <a:latin typeface="Calibri"/>
              </a:rPr>
              <a:t>Pre-seed · SAFE · 8% discount · No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A9AAE"/>
                </a:solidFill>
                <a:latin typeface="Arial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6BFF"/>
                </a:solidFill>
                <a:latin typeface="Arial"/>
              </a:rPr>
              <a:t>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224528"/>
            <a:ext cx="5029200" cy="1828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4224528"/>
            <a:ext cx="2011680" cy="182880"/>
          </a:xfrm>
          <a:prstGeom prst="roundRect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Security audit + mainnet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6BFF"/>
                </a:solidFill>
                <a:latin typeface="Arial"/>
              </a:rPr>
              <a:t>35%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773168"/>
            <a:ext cx="5029200" cy="1828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4773168"/>
            <a:ext cx="1760220" cy="182880"/>
          </a:xfrm>
          <a:prstGeom prst="roundRect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983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Team growth — second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6BFF"/>
                </a:solidFill>
                <a:latin typeface="Arial"/>
              </a:rPr>
              <a:t>25%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321808"/>
            <a:ext cx="5029200" cy="182880"/>
          </a:xfrm>
          <a:prstGeom prst="round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5321808"/>
            <a:ext cx="1257300" cy="182880"/>
          </a:xfrm>
          <a:prstGeom prst="roundRect">
            <a:avLst/>
          </a:prstGeom>
          <a:solidFill>
            <a:srgbClr val="2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32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E5EAF2"/>
                </a:solidFill>
                <a:latin typeface="Calibri"/>
              </a:rPr>
              <a:t>BD — first 10 brand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B6BFF"/>
                </a:solidFill>
                <a:latin typeface="Arial"/>
              </a:rPr>
              <a:t>MILESTONES AFTER CLOSE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25880"/>
            <a:ext cx="4434840" cy="91440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4630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B6BFF"/>
                </a:solidFill>
                <a:latin typeface="Arial"/>
              </a:rPr>
              <a:t>30d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490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Audit → Mainnet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13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9AAE"/>
                </a:solidFill>
                <a:latin typeface="Calibri"/>
              </a:rPr>
              <a:t>OtterSec or Sec3 audit, Kamino CPI live on mainnet.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377440"/>
            <a:ext cx="4434840" cy="91440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5146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B6B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5420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Brand partners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8529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9AAE"/>
                </a:solidFill>
                <a:latin typeface="Calibri"/>
              </a:rPr>
              <a:t>First pilots closed. Streamflow top-up integrated.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429000"/>
            <a:ext cx="4434840" cy="914400"/>
          </a:xfrm>
          <a:prstGeom prst="roundRect">
            <a:avLst/>
          </a:prstGeom>
          <a:solidFill>
            <a:srgbClr val="142540"/>
          </a:solidFill>
          <a:ln w="6350">
            <a:solidFill>
              <a:srgbClr val="22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5661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B6BFF"/>
                </a:solidFill>
                <a:latin typeface="Arial"/>
              </a:rPr>
              <a:t>$500K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5935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TVL target · Year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9044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9AAE"/>
                </a:solidFill>
                <a:latin typeface="Calibri"/>
              </a:rPr>
              <a:t>~$10K ARR at 2% yield fee + advance fee (~50–100 campaigns).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200">
                <a:solidFill>
                  <a:srgbClr val="FFFFFF"/>
                </a:solidFill>
                <a:latin typeface="Arial"/>
              </a:rPr>
              <a:t>THE BRAND CANNOT CANCEL.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3679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9AAE"/>
                </a:solidFill>
                <a:latin typeface="Consolas"/>
              </a:rPr>
              <a:t>github.com/ernanibmurtinho/gecko-creator-sdk  ·  Solana Devnet Explorer  ·  Program ID: Eeyc1A…WNeSh3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492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>
                <a:solidFill>
                  <a:srgbClr val="8A9AAE"/>
                </a:solidFill>
                <a:latin typeface="Arial"/>
              </a:rPr>
              <a:t>PITCHDECK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