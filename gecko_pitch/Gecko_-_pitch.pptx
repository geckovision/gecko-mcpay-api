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5341" y="781050"/>
            <a:ext cx="495300" cy="495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95891" y="762000"/>
            <a:ext cx="13629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51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</a:t>
            </a:r>
            <a:endParaRPr lang="en-US" sz="3510" dirty="0"/>
          </a:p>
        </p:txBody>
      </p:sp>
      <p:sp>
        <p:nvSpPr>
          <p:cNvPr id="4" name="Shape 1"/>
          <p:cNvSpPr/>
          <p:nvPr/>
        </p:nvSpPr>
        <p:spPr>
          <a:xfrm>
            <a:off x="6743700" y="1624459"/>
            <a:ext cx="4800600" cy="361950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5" name="Text 2"/>
          <p:cNvSpPr/>
          <p:nvPr/>
        </p:nvSpPr>
        <p:spPr>
          <a:xfrm>
            <a:off x="6805041" y="1700659"/>
            <a:ext cx="46779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BOOTSTRAP · POWERED BY X402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862" y="2253109"/>
            <a:ext cx="16678275" cy="4070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100" b="1" spc="-1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JUST PAID </a:t>
            </a:r>
            <a:pPr algn="ctr" indent="0" marL="0">
              <a:lnSpc>
                <a:spcPct val="98000"/>
              </a:lnSpc>
              <a:buNone/>
            </a:pPr>
            <a:r>
              <a:rPr lang="en-US" sz="8100" b="1" spc="-122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ITS FOUNDER </a:t>
            </a:r>
            <a:pPr algn="ctr" indent="0" marL="0">
              <a:lnSpc>
                <a:spcPct val="98000"/>
              </a:lnSpc>
              <a:buNone/>
            </a:pPr>
            <a:r>
              <a:rPr lang="en-US" sz="8100" b="1" spc="-1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FIND OUT IF THE IDEA IS REAL.</a:t>
            </a:r>
            <a:endParaRPr lang="en-US" sz="8100" dirty="0"/>
          </a:p>
        </p:txBody>
      </p:sp>
      <p:sp>
        <p:nvSpPr>
          <p:cNvPr id="7" name="Text 4"/>
          <p:cNvSpPr/>
          <p:nvPr/>
        </p:nvSpPr>
        <p:spPr>
          <a:xfrm>
            <a:off x="3257550" y="6589961"/>
            <a:ext cx="117729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product where an AI agent commissions startup validation for the founder it works for.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04862" y="7563296"/>
            <a:ext cx="16678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231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 PROTOCOL · COLOSSEUM · 2026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47750" y="8972550"/>
            <a:ext cx="35711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ERNANI BRITTO · CO-FOUNDER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47750" y="9277350"/>
            <a:ext cx="35711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GECKOVISION.TECH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493240" y="9277350"/>
            <a:ext cx="27470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spc="150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· DEVNET LIVE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514350"/>
            <a:ext cx="17359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2878931" y="647700"/>
            <a:ext cx="13888045" cy="9525"/>
          </a:xfrm>
          <a:prstGeom prst="rect">
            <a:avLst/>
          </a:prstGeom>
          <a:solidFill>
            <a:srgbClr val="1E56F5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938427" y="514350"/>
            <a:ext cx="3780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16678275" cy="2390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300" b="1" spc="-94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WASTE </a:t>
            </a:r>
            <a:pPr algn="l" indent="0" marL="0">
              <a:lnSpc>
                <a:spcPct val="98000"/>
              </a:lnSpc>
              <a:buNone/>
            </a:pPr>
            <a:r>
              <a:rPr lang="en-US" sz="6300" b="1" spc="-94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MONTHS </a:t>
            </a:r>
            <a:pPr algn="l" indent="0" marL="0">
              <a:lnSpc>
                <a:spcPct val="98000"/>
              </a:lnSpc>
              <a:buNone/>
            </a:pPr>
            <a:r>
              <a:rPr lang="en-US" sz="6300" b="1" spc="-94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WRONG THING.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047750" y="6329363"/>
            <a:ext cx="14716125" cy="1395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50" spc="-29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spent </a:t>
            </a:r>
            <a:pPr algn="l" indent="0" marL="0">
              <a:lnSpc>
                <a:spcPct val="125000"/>
              </a:lnSpc>
              <a:buNone/>
            </a:pPr>
            <a:r>
              <a:rPr lang="en-US" sz="2850" spc="-29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hours </a:t>
            </a:r>
            <a:pPr algn="l" indent="0" marL="0">
              <a:lnSpc>
                <a:spcPct val="125000"/>
              </a:lnSpc>
              <a:buNone/>
            </a:pPr>
            <a:r>
              <a:rPr lang="en-US" sz="2850" spc="-29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transcribing YouTube videos before I knew if my idea was real. Then I shipped the wrong product and lost six months."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47750" y="7915275"/>
            <a:ext cx="147161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0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ERNANI · CO-FOUNDER, GECKO</a:t>
            </a:r>
            <a:endParaRPr lang="en-US" sz="1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534525"/>
            <a:ext cx="26670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09700" y="9525000"/>
            <a:ext cx="7688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0" b="1" spc="-38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</a:t>
            </a:r>
            <a:endParaRPr lang="en-US" sz="1890" dirty="0"/>
          </a:p>
        </p:txBody>
      </p:sp>
      <p:sp>
        <p:nvSpPr>
          <p:cNvPr id="10" name="Text 7"/>
          <p:cNvSpPr/>
          <p:nvPr/>
        </p:nvSpPr>
        <p:spPr>
          <a:xfrm>
            <a:off x="14826109" y="9458325"/>
            <a:ext cx="24903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PITCHDECK — 2026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514350"/>
            <a:ext cx="17359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2878931" y="647700"/>
            <a:ext cx="13888045" cy="9525"/>
          </a:xfrm>
          <a:prstGeom prst="rect">
            <a:avLst/>
          </a:prstGeom>
          <a:solidFill>
            <a:srgbClr val="B8C7F9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938427" y="514350"/>
            <a:ext cx="3780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047750" y="1333500"/>
            <a:ext cx="2987129" cy="361950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1409700"/>
            <a:ext cx="28100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MIN. NOT 20 HOURS.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50" y="1905000"/>
            <a:ext cx="16678275" cy="2390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300" b="1" spc="-9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</a:t>
            </a:r>
            <a:pPr algn="l" indent="0" marL="0">
              <a:lnSpc>
                <a:spcPct val="98000"/>
              </a:lnSpc>
              <a:buNone/>
            </a:pPr>
            <a:r>
              <a:rPr lang="en-US" sz="6300" b="1" spc="-94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DECISION, </a:t>
            </a:r>
            <a:pPr algn="l" indent="0" marL="0">
              <a:lnSpc>
                <a:spcPct val="98000"/>
              </a:lnSpc>
              <a:buNone/>
            </a:pPr>
            <a:r>
              <a:rPr lang="en-US" sz="6300" b="1" spc="-9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CITED.</a:t>
            </a:r>
            <a:endParaRPr lang="en-US" sz="6300" dirty="0"/>
          </a:p>
        </p:txBody>
      </p:sp>
      <p:sp>
        <p:nvSpPr>
          <p:cNvPr id="8" name="Shape 6"/>
          <p:cNvSpPr/>
          <p:nvPr/>
        </p:nvSpPr>
        <p:spPr>
          <a:xfrm>
            <a:off x="1047750" y="5600700"/>
            <a:ext cx="5219700" cy="2781300"/>
          </a:xfrm>
          <a:prstGeom prst="rect">
            <a:avLst/>
          </a:prstGeom>
          <a:solidFill>
            <a:srgbClr val="1E56F5">
              <a:alpha val="6000"/>
            </a:srgbClr>
          </a:solidFill>
          <a:ln w="9525">
            <a:solidFill>
              <a:srgbClr val="B8C7F9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3975" y="5876925"/>
            <a:ext cx="4667250" cy="361950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10" name="Text 8"/>
          <p:cNvSpPr/>
          <p:nvPr/>
        </p:nvSpPr>
        <p:spPr>
          <a:xfrm>
            <a:off x="1457325" y="5953125"/>
            <a:ext cx="45405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3975" y="6448425"/>
            <a:ext cx="480726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· market · positioning · 90-day plan.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3975" y="7848600"/>
            <a:ext cx="48072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· 7+ SOURCES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34150" y="5600700"/>
            <a:ext cx="5219700" cy="2781300"/>
          </a:xfrm>
          <a:prstGeom prst="rect">
            <a:avLst/>
          </a:prstGeom>
          <a:solidFill>
            <a:srgbClr val="1E56F5">
              <a:alpha val="6000"/>
            </a:srgbClr>
          </a:solidFill>
          <a:ln w="9525">
            <a:solidFill>
              <a:srgbClr val="B8C7F9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0375" y="5876925"/>
            <a:ext cx="4667250" cy="361950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15" name="Text 13"/>
          <p:cNvSpPr/>
          <p:nvPr/>
        </p:nvSpPr>
        <p:spPr>
          <a:xfrm>
            <a:off x="6943725" y="5953125"/>
            <a:ext cx="45405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REPORT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10375" y="6448425"/>
            <a:ext cx="480726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signals · competitors · risks · go/no-go.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0375" y="7848600"/>
            <a:ext cx="48072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· 7+ SOURCES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020550" y="5600700"/>
            <a:ext cx="5219700" cy="2781300"/>
          </a:xfrm>
          <a:prstGeom prst="rect">
            <a:avLst/>
          </a:prstGeom>
          <a:solidFill>
            <a:srgbClr val="1E56F5">
              <a:alpha val="6000"/>
            </a:srgbClr>
          </a:solidFill>
          <a:ln w="9525">
            <a:solidFill>
              <a:srgbClr val="B8C7F9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96775" y="5876925"/>
            <a:ext cx="4667250" cy="361950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20" name="Text 18"/>
          <p:cNvSpPr/>
          <p:nvPr/>
        </p:nvSpPr>
        <p:spPr>
          <a:xfrm>
            <a:off x="12430125" y="5953125"/>
            <a:ext cx="45405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296775" y="6448425"/>
            <a:ext cx="480726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· users · MVP cuts · success metrics.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296775" y="7848600"/>
            <a:ext cx="48072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· 7+ SOURCES</a:t>
            </a:r>
            <a:endParaRPr lang="en-US" sz="13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534525"/>
            <a:ext cx="26670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09700" y="9525000"/>
            <a:ext cx="7688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0" b="1" spc="-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</a:t>
            </a:r>
            <a:endParaRPr lang="en-US" sz="1890" dirty="0"/>
          </a:p>
        </p:txBody>
      </p:sp>
      <p:sp>
        <p:nvSpPr>
          <p:cNvPr id="25" name="Text 22"/>
          <p:cNvSpPr/>
          <p:nvPr/>
        </p:nvSpPr>
        <p:spPr>
          <a:xfrm>
            <a:off x="14826109" y="9458325"/>
            <a:ext cx="24903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PITCHDECK — 2026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514350"/>
            <a:ext cx="12833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X402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2426345" y="647700"/>
            <a:ext cx="14340632" cy="9525"/>
          </a:xfrm>
          <a:prstGeom prst="rect">
            <a:avLst/>
          </a:prstGeom>
          <a:solidFill>
            <a:srgbClr val="1E56F5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938427" y="514350"/>
            <a:ext cx="3780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16678275" cy="15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b="1" spc="-90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ISN'T CHECKOUT. </a:t>
            </a:r>
            <a:pPr algn="l" indent="0" marL="0">
              <a:lnSpc>
                <a:spcPct val="98000"/>
              </a:lnSpc>
              <a:buNone/>
            </a:pPr>
            <a:r>
              <a:rPr lang="en-US" sz="6000" b="1" spc="-90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STRUCTURAL.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047750" y="5625703"/>
            <a:ext cx="161925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0A0B1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275" y="5635228"/>
            <a:ext cx="28575" cy="952500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8" name="Text 6"/>
          <p:cNvSpPr/>
          <p:nvPr/>
        </p:nvSpPr>
        <p:spPr>
          <a:xfrm>
            <a:off x="1323975" y="6001941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352675" y="5844778"/>
            <a:ext cx="35318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19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IS AN AGENT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048375" y="5970091"/>
            <a:ext cx="1124312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60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can't use Stripe. Can't fill forms. x402 is the only standard a machine can pay through autonomously.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047750" y="6768703"/>
            <a:ext cx="16192500" cy="720923"/>
          </a:xfrm>
          <a:prstGeom prst="rect">
            <a:avLst/>
          </a:prstGeom>
          <a:solidFill>
            <a:srgbClr val="FFFFFF"/>
          </a:solidFill>
          <a:ln w="9525">
            <a:solidFill>
              <a:srgbClr val="0A0B1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7275" y="6778228"/>
            <a:ext cx="28575" cy="701873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13" name="Text 11"/>
          <p:cNvSpPr/>
          <p:nvPr/>
        </p:nvSpPr>
        <p:spPr>
          <a:xfrm>
            <a:off x="1323975" y="7019627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352675" y="6995815"/>
            <a:ext cx="3531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19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KEYS, EVER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048375" y="6987778"/>
            <a:ext cx="1124312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60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signature is auth. The same primitive does payment. Removing x402 means re-introducing humans.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7661077"/>
            <a:ext cx="16192500" cy="720923"/>
          </a:xfrm>
          <a:prstGeom prst="rect">
            <a:avLst/>
          </a:prstGeom>
          <a:solidFill>
            <a:srgbClr val="FFFFFF"/>
          </a:solidFill>
          <a:ln w="9525">
            <a:solidFill>
              <a:srgbClr val="0A0B10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7275" y="7670602"/>
            <a:ext cx="28575" cy="701873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18" name="Text 16"/>
          <p:cNvSpPr/>
          <p:nvPr/>
        </p:nvSpPr>
        <p:spPr>
          <a:xfrm>
            <a:off x="1323975" y="7912001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352675" y="7888188"/>
            <a:ext cx="3531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19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COMPOSES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048375" y="7880152"/>
            <a:ext cx="1124312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60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frames.ag, ClawRouter, and Gecko interop because they all speak x402. Without it, no composition.</a:t>
            </a:r>
            <a:endParaRPr lang="en-US" sz="16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534525"/>
            <a:ext cx="266700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09700" y="9525000"/>
            <a:ext cx="7688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0" b="1" spc="-38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</a:t>
            </a:r>
            <a:endParaRPr lang="en-US" sz="1890" dirty="0"/>
          </a:p>
        </p:txBody>
      </p:sp>
      <p:sp>
        <p:nvSpPr>
          <p:cNvPr id="23" name="Text 20"/>
          <p:cNvSpPr/>
          <p:nvPr/>
        </p:nvSpPr>
        <p:spPr>
          <a:xfrm>
            <a:off x="14826109" y="9458325"/>
            <a:ext cx="24903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PITCHDECK — 2026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514350"/>
            <a:ext cx="18868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3029843" y="647700"/>
            <a:ext cx="13737134" cy="9525"/>
          </a:xfrm>
          <a:prstGeom prst="rect">
            <a:avLst/>
          </a:prstGeom>
          <a:solidFill>
            <a:srgbClr val="B8C7F9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938427" y="514350"/>
            <a:ext cx="3780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16678275" cy="15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IN THE STACK IS </a:t>
            </a:r>
            <a:pPr algn="l" indent="0" marL="0">
              <a:lnSpc>
                <a:spcPct val="98000"/>
              </a:lnSpc>
              <a:buNone/>
            </a:pPr>
            <a:r>
              <a:rPr lang="en-US" sz="6000" b="1" spc="-90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047750" y="4381500"/>
            <a:ext cx="5016401" cy="2724150"/>
          </a:xfrm>
          <a:prstGeom prst="rect">
            <a:avLst/>
          </a:prstGeom>
          <a:solidFill>
            <a:srgbClr val="1E56F5">
              <a:alpha val="8000"/>
            </a:srgbClr>
          </a:solidFill>
          <a:ln w="9525">
            <a:solidFill>
              <a:srgbClr val="B8C7F9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3975" y="4695825"/>
            <a:ext cx="4597869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BUILDER'S AGENT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23975" y="6286500"/>
            <a:ext cx="45978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FRAMES.AG WALLET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23975" y="6562725"/>
            <a:ext cx="459786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Gecko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26051" y="5476875"/>
            <a:ext cx="647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6635651" y="4381500"/>
            <a:ext cx="5016550" cy="2724150"/>
          </a:xfrm>
          <a:prstGeom prst="rect">
            <a:avLst/>
          </a:prstGeom>
          <a:solidFill>
            <a:srgbClr val="1E56F5">
              <a:alpha val="8000"/>
            </a:srgbClr>
          </a:solidFill>
          <a:ln w="9525">
            <a:solidFill>
              <a:srgbClr val="B8C7F9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11876" y="4695825"/>
            <a:ext cx="459802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 API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911876" y="6286500"/>
            <a:ext cx="45980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MIDDLEWARE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11876" y="6562725"/>
            <a:ext cx="45980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+ runs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4100" y="5476875"/>
            <a:ext cx="647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12223700" y="4381500"/>
            <a:ext cx="5016550" cy="2724150"/>
          </a:xfrm>
          <a:prstGeom prst="rect">
            <a:avLst/>
          </a:prstGeom>
          <a:solidFill>
            <a:srgbClr val="1E56F5">
              <a:alpha val="8000"/>
            </a:srgbClr>
          </a:solidFill>
          <a:ln w="9525">
            <a:solidFill>
              <a:srgbClr val="B8C7F9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99925" y="4695825"/>
            <a:ext cx="459802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499925" y="6286500"/>
            <a:ext cx="45980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CLAWROUTER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499925" y="6562725"/>
            <a:ext cx="45980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+ pays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47750" y="8267700"/>
            <a:ext cx="16192500" cy="9525"/>
          </a:xfrm>
          <a:prstGeom prst="rect">
            <a:avLst/>
          </a:prstGeom>
          <a:solidFill>
            <a:srgbClr val="B8C7F9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862" y="8486775"/>
            <a:ext cx="16678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231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USDC · ALL ON-CHAIN · ALL VISIBLE — NO API KEYS, ANYWHERE</a:t>
            </a:r>
            <a:endParaRPr lang="en-US" sz="16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534525"/>
            <a:ext cx="266700" cy="2667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09700" y="9525000"/>
            <a:ext cx="7688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0" b="1" spc="-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</a:t>
            </a:r>
            <a:endParaRPr lang="en-US" sz="1890" dirty="0"/>
          </a:p>
        </p:txBody>
      </p:sp>
      <p:sp>
        <p:nvSpPr>
          <p:cNvPr id="24" name="Text 21"/>
          <p:cNvSpPr/>
          <p:nvPr/>
        </p:nvSpPr>
        <p:spPr>
          <a:xfrm>
            <a:off x="14826109" y="9458325"/>
            <a:ext cx="24903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PITCHDECK — 2026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514350"/>
            <a:ext cx="9815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2124521" y="647700"/>
            <a:ext cx="14642455" cy="9525"/>
          </a:xfrm>
          <a:prstGeom prst="rect">
            <a:avLst/>
          </a:prstGeom>
          <a:solidFill>
            <a:srgbClr val="1E56F5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938427" y="514350"/>
            <a:ext cx="3780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16678275" cy="15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b="1" spc="-90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TODAY, </a:t>
            </a:r>
            <a:pPr algn="l" indent="0" marL="0">
              <a:lnSpc>
                <a:spcPct val="98000"/>
              </a:lnSpc>
              <a:buNone/>
            </a:pPr>
            <a:r>
              <a:rPr lang="en-US" sz="6000" b="1" spc="-90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SOLANA DEVNET.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47750" y="3036391"/>
            <a:ext cx="1079182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before mainnet — same code path, same flow, real x402 transactions.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3571875"/>
            <a:ext cx="16192500" cy="9525"/>
          </a:xfrm>
          <a:prstGeom prst="rect">
            <a:avLst/>
          </a:prstGeom>
          <a:solidFill>
            <a:srgbClr val="0A0B10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4195763"/>
            <a:ext cx="16192500" cy="9525"/>
          </a:xfrm>
          <a:prstGeom prst="rect">
            <a:avLst/>
          </a:prstGeom>
          <a:solidFill>
            <a:srgbClr val="0A0B1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3821906"/>
            <a:ext cx="133350" cy="133350"/>
          </a:xfrm>
          <a:prstGeom prst="ellipse">
            <a:avLst/>
          </a:prstGeom>
          <a:solidFill>
            <a:srgbClr val="14D98A"/>
          </a:solidFill>
          <a:ln/>
        </p:spPr>
      </p:sp>
      <p:sp>
        <p:nvSpPr>
          <p:cNvPr id="10" name="Text 8"/>
          <p:cNvSpPr/>
          <p:nvPr/>
        </p:nvSpPr>
        <p:spPr>
          <a:xfrm>
            <a:off x="1466850" y="3750469"/>
            <a:ext cx="140882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SDK + ingestion + RAG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584811" y="3733800"/>
            <a:ext cx="655439" cy="309563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12" name="Text 10"/>
          <p:cNvSpPr/>
          <p:nvPr/>
        </p:nvSpPr>
        <p:spPr>
          <a:xfrm>
            <a:off x="16641961" y="3810000"/>
            <a:ext cx="46493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047750" y="4819650"/>
            <a:ext cx="16192500" cy="9525"/>
          </a:xfrm>
          <a:prstGeom prst="rect">
            <a:avLst/>
          </a:prstGeom>
          <a:solidFill>
            <a:srgbClr val="0A0B1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4445794"/>
            <a:ext cx="133350" cy="133350"/>
          </a:xfrm>
          <a:prstGeom prst="ellipse">
            <a:avLst/>
          </a:prstGeom>
          <a:solidFill>
            <a:srgbClr val="14D98A"/>
          </a:solidFill>
          <a:ln/>
        </p:spPr>
      </p:sp>
      <p:sp>
        <p:nvSpPr>
          <p:cNvPr id="15" name="Text 13"/>
          <p:cNvSpPr/>
          <p:nvPr/>
        </p:nvSpPr>
        <p:spPr>
          <a:xfrm>
            <a:off x="1466850" y="4374356"/>
            <a:ext cx="140882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payment middleware on gecko-api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584811" y="4357688"/>
            <a:ext cx="655439" cy="309563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17" name="Text 15"/>
          <p:cNvSpPr/>
          <p:nvPr/>
        </p:nvSpPr>
        <p:spPr>
          <a:xfrm>
            <a:off x="16641961" y="4433888"/>
            <a:ext cx="46493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047750" y="5443538"/>
            <a:ext cx="16192500" cy="9525"/>
          </a:xfrm>
          <a:prstGeom prst="rect">
            <a:avLst/>
          </a:prstGeom>
          <a:solidFill>
            <a:srgbClr val="0A0B1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" y="5069681"/>
            <a:ext cx="133350" cy="133350"/>
          </a:xfrm>
          <a:prstGeom prst="ellipse">
            <a:avLst/>
          </a:prstGeom>
          <a:solidFill>
            <a:srgbClr val="14D98A"/>
          </a:solidFill>
          <a:ln/>
        </p:spPr>
      </p:sp>
      <p:sp>
        <p:nvSpPr>
          <p:cNvPr id="20" name="Text 18"/>
          <p:cNvSpPr/>
          <p:nvPr/>
        </p:nvSpPr>
        <p:spPr>
          <a:xfrm>
            <a:off x="1466850" y="4998244"/>
            <a:ext cx="140882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frames.ag wallet integration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584811" y="4981575"/>
            <a:ext cx="655439" cy="309563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22" name="Text 20"/>
          <p:cNvSpPr/>
          <p:nvPr/>
        </p:nvSpPr>
        <p:spPr>
          <a:xfrm>
            <a:off x="16641961" y="5057775"/>
            <a:ext cx="46493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1047750" y="6067425"/>
            <a:ext cx="16192500" cy="9525"/>
          </a:xfrm>
          <a:prstGeom prst="rect">
            <a:avLst/>
          </a:prstGeom>
          <a:solidFill>
            <a:srgbClr val="0A0B10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" y="5693569"/>
            <a:ext cx="133350" cy="133350"/>
          </a:xfrm>
          <a:prstGeom prst="ellipse">
            <a:avLst/>
          </a:prstGeom>
          <a:solidFill>
            <a:srgbClr val="14D98A"/>
          </a:solidFill>
          <a:ln/>
        </p:spPr>
      </p:sp>
      <p:sp>
        <p:nvSpPr>
          <p:cNvPr id="25" name="Text 23"/>
          <p:cNvSpPr/>
          <p:nvPr/>
        </p:nvSpPr>
        <p:spPr>
          <a:xfrm>
            <a:off x="1466850" y="5622131"/>
            <a:ext cx="140882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ClawRouter LLM integration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584811" y="5605463"/>
            <a:ext cx="655439" cy="309563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27" name="Text 25"/>
          <p:cNvSpPr/>
          <p:nvPr/>
        </p:nvSpPr>
        <p:spPr>
          <a:xfrm>
            <a:off x="16641961" y="5681662"/>
            <a:ext cx="46493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1047750" y="6691313"/>
            <a:ext cx="16192500" cy="9525"/>
          </a:xfrm>
          <a:prstGeom prst="rect">
            <a:avLst/>
          </a:prstGeom>
          <a:solidFill>
            <a:srgbClr val="0A0B10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6317456"/>
            <a:ext cx="133350" cy="133350"/>
          </a:xfrm>
          <a:prstGeom prst="ellipse">
            <a:avLst/>
          </a:prstGeom>
          <a:solidFill>
            <a:srgbClr val="14D98A"/>
          </a:solidFill>
          <a:ln/>
        </p:spPr>
      </p:sp>
      <p:sp>
        <p:nvSpPr>
          <p:cNvPr id="30" name="Text 28"/>
          <p:cNvSpPr/>
          <p:nvPr/>
        </p:nvSpPr>
        <p:spPr>
          <a:xfrm>
            <a:off x="1466850" y="6246019"/>
            <a:ext cx="140882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+ Claude Code skill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6584811" y="6229350"/>
            <a:ext cx="655439" cy="309563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32" name="Text 30"/>
          <p:cNvSpPr/>
          <p:nvPr/>
        </p:nvSpPr>
        <p:spPr>
          <a:xfrm>
            <a:off x="16641961" y="6305550"/>
            <a:ext cx="46493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1047750" y="7315200"/>
            <a:ext cx="16192500" cy="9525"/>
          </a:xfrm>
          <a:prstGeom prst="rect">
            <a:avLst/>
          </a:prstGeom>
          <a:solidFill>
            <a:srgbClr val="0A0B10">
              <a:alpha val="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47750" y="6941344"/>
            <a:ext cx="133350" cy="133350"/>
          </a:xfrm>
          <a:prstGeom prst="ellipse">
            <a:avLst/>
          </a:prstGeom>
          <a:solidFill>
            <a:srgbClr val="1E56F5"/>
          </a:solidFill>
          <a:ln/>
        </p:spPr>
      </p:sp>
      <p:sp>
        <p:nvSpPr>
          <p:cNvPr id="35" name="Text 33"/>
          <p:cNvSpPr/>
          <p:nvPr/>
        </p:nvSpPr>
        <p:spPr>
          <a:xfrm>
            <a:off x="1466850" y="6869906"/>
            <a:ext cx="140882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devnet transactions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6293405" y="6853238"/>
            <a:ext cx="946845" cy="309563"/>
          </a:xfrm>
          <a:prstGeom prst="rect">
            <a:avLst/>
          </a:prstGeom>
          <a:solidFill>
            <a:srgbClr val="0A0B10"/>
          </a:solidFill>
          <a:ln/>
        </p:spPr>
      </p:sp>
      <p:sp>
        <p:nvSpPr>
          <p:cNvPr id="37" name="Text 35"/>
          <p:cNvSpPr/>
          <p:nvPr/>
        </p:nvSpPr>
        <p:spPr>
          <a:xfrm>
            <a:off x="16350555" y="6929438"/>
            <a:ext cx="7563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1047750" y="7939087"/>
            <a:ext cx="16192500" cy="9525"/>
          </a:xfrm>
          <a:prstGeom prst="rect">
            <a:avLst/>
          </a:prstGeom>
          <a:solidFill>
            <a:srgbClr val="0A0B10">
              <a:alpha val="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47750" y="7565231"/>
            <a:ext cx="133350" cy="133350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40" name="Text 38"/>
          <p:cNvSpPr/>
          <p:nvPr/>
        </p:nvSpPr>
        <p:spPr>
          <a:xfrm>
            <a:off x="1466850" y="7493794"/>
            <a:ext cx="140882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tier · 5-agent GroupChat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04815" y="7477125"/>
            <a:ext cx="1335435" cy="309563"/>
          </a:xfrm>
          <a:prstGeom prst="rect">
            <a:avLst/>
          </a:prstGeom>
          <a:solidFill>
            <a:srgbClr val="0A0B10"/>
          </a:solidFill>
          <a:ln/>
        </p:spPr>
      </p:sp>
      <p:sp>
        <p:nvSpPr>
          <p:cNvPr id="42" name="Text 40"/>
          <p:cNvSpPr/>
          <p:nvPr/>
        </p:nvSpPr>
        <p:spPr>
          <a:xfrm>
            <a:off x="15961965" y="7553325"/>
            <a:ext cx="114493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1047750" y="8562975"/>
            <a:ext cx="16192500" cy="9525"/>
          </a:xfrm>
          <a:prstGeom prst="rect">
            <a:avLst/>
          </a:prstGeom>
          <a:solidFill>
            <a:srgbClr val="0A0B10">
              <a:alpha val="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47750" y="8189119"/>
            <a:ext cx="133350" cy="133350"/>
          </a:xfrm>
          <a:prstGeom prst="ellipse">
            <a:avLst/>
          </a:prstGeom>
          <a:solidFill>
            <a:srgbClr val="0A0B10">
              <a:alpha val="2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466850" y="8117681"/>
            <a:ext cx="140882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mainnet · audited deploy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6099036" y="8101013"/>
            <a:ext cx="1141214" cy="309563"/>
          </a:xfrm>
          <a:prstGeom prst="rect">
            <a:avLst/>
          </a:prstGeom>
          <a:solidFill>
            <a:srgbClr val="0A0B10"/>
          </a:solidFill>
          <a:ln/>
        </p:spPr>
      </p:sp>
      <p:sp>
        <p:nvSpPr>
          <p:cNvPr id="47" name="Text 45"/>
          <p:cNvSpPr/>
          <p:nvPr/>
        </p:nvSpPr>
        <p:spPr>
          <a:xfrm>
            <a:off x="16156186" y="8177213"/>
            <a:ext cx="95071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POST-TEST</a:t>
            </a:r>
            <a:endParaRPr lang="en-US" sz="1125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534525"/>
            <a:ext cx="266700" cy="26670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409700" y="9525000"/>
            <a:ext cx="7688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0" b="1" spc="-38" kern="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</a:t>
            </a:r>
            <a:endParaRPr lang="en-US" sz="1890" dirty="0"/>
          </a:p>
        </p:txBody>
      </p:sp>
      <p:sp>
        <p:nvSpPr>
          <p:cNvPr id="50" name="Text 47"/>
          <p:cNvSpPr/>
          <p:nvPr/>
        </p:nvSpPr>
        <p:spPr>
          <a:xfrm>
            <a:off x="14826109" y="9458325"/>
            <a:ext cx="24903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PITCHDECK — 2026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514350"/>
            <a:ext cx="11324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2275433" y="647700"/>
            <a:ext cx="14491543" cy="9525"/>
          </a:xfrm>
          <a:prstGeom prst="rect">
            <a:avLst/>
          </a:prstGeom>
          <a:solidFill>
            <a:srgbClr val="B8C7F9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938427" y="514350"/>
            <a:ext cx="3780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16678275" cy="2278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TODAY. </a:t>
            </a:r>
            <a:pPr algn="l" indent="0" marL="0">
              <a:lnSpc>
                <a:spcPct val="98000"/>
              </a:lnSpc>
              <a:buNone/>
            </a:pPr>
            <a:r>
              <a:rPr lang="en-US" sz="6000" b="1" spc="-90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MARKETPLACE </a:t>
            </a:r>
            <a:pPr algn="l" indent="0" marL="0">
              <a:lnSpc>
                <a:spcPct val="98000"/>
              </a:lnSpc>
              <a:buNone/>
            </a:pPr>
            <a:r>
              <a:rPr lang="en-US" sz="60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047750" y="5162550"/>
            <a:ext cx="5219700" cy="3219450"/>
          </a:xfrm>
          <a:prstGeom prst="rect">
            <a:avLst/>
          </a:prstGeom>
          <a:solidFill>
            <a:srgbClr val="1E56F5">
              <a:alpha val="12000"/>
            </a:srgbClr>
          </a:solidFill>
          <a:ln w="9525">
            <a:solidFill>
              <a:srgbClr val="1E56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3975" y="5438775"/>
            <a:ext cx="825698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432971" y="5705475"/>
            <a:ext cx="558254" cy="309563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9" name="Text 7"/>
          <p:cNvSpPr/>
          <p:nvPr/>
        </p:nvSpPr>
        <p:spPr>
          <a:xfrm>
            <a:off x="5566321" y="5781675"/>
            <a:ext cx="36775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323975" y="6191250"/>
            <a:ext cx="480726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DEVNET TEST · FOUNDER PILOTS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3975" y="6572250"/>
            <a:ext cx="48072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Bootstrap. Paid research sessions. Pro tier rolls out.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4150" y="5162550"/>
            <a:ext cx="5219700" cy="3219450"/>
          </a:xfrm>
          <a:prstGeom prst="rect">
            <a:avLst/>
          </a:prstGeom>
          <a:solidFill>
            <a:srgbClr val="B8C7F9">
              <a:alpha val="4000"/>
            </a:srgbClr>
          </a:solidFill>
          <a:ln w="9525">
            <a:solidFill>
              <a:srgbClr val="B8C7F9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0375" y="5438775"/>
            <a:ext cx="1337816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0530780" y="5705475"/>
            <a:ext cx="946845" cy="309563"/>
          </a:xfrm>
          <a:prstGeom prst="rect">
            <a:avLst/>
          </a:prstGeom>
          <a:solidFill>
            <a:srgbClr val="0A0B10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4130" y="5781675"/>
            <a:ext cx="7563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810375" y="6191250"/>
            <a:ext cx="480726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AFTER AUDIT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0375" y="6572250"/>
            <a:ext cx="48072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5-agent GroupChat live. First brand partner integrations.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020550" y="5162550"/>
            <a:ext cx="5219700" cy="3219450"/>
          </a:xfrm>
          <a:prstGeom prst="rect">
            <a:avLst/>
          </a:prstGeom>
          <a:solidFill>
            <a:srgbClr val="B8C7F9">
              <a:alpha val="4000"/>
            </a:srgbClr>
          </a:solidFill>
          <a:ln w="9525">
            <a:solidFill>
              <a:srgbClr val="B8C7F9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96775" y="5438775"/>
            <a:ext cx="825698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16308586" y="5705475"/>
            <a:ext cx="655439" cy="309563"/>
          </a:xfrm>
          <a:prstGeom prst="rect">
            <a:avLst/>
          </a:prstGeom>
          <a:solidFill>
            <a:srgbClr val="0A0B10"/>
          </a:solidFill>
          <a:ln/>
        </p:spPr>
      </p:sp>
      <p:sp>
        <p:nvSpPr>
          <p:cNvPr id="21" name="Text 19"/>
          <p:cNvSpPr/>
          <p:nvPr/>
        </p:nvSpPr>
        <p:spPr>
          <a:xfrm>
            <a:off x="16441936" y="5781675"/>
            <a:ext cx="46493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2296775" y="6191250"/>
            <a:ext cx="480726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API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296775" y="6572250"/>
            <a:ext cx="48072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→ due diligence → market sizing. Same rails, new categories.</a:t>
            </a:r>
            <a:endParaRPr lang="en-US" sz="15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534525"/>
            <a:ext cx="266700" cy="2667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09700" y="9525000"/>
            <a:ext cx="7688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0" b="1" spc="-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</a:t>
            </a:r>
            <a:endParaRPr lang="en-US" sz="1890" dirty="0"/>
          </a:p>
        </p:txBody>
      </p:sp>
      <p:sp>
        <p:nvSpPr>
          <p:cNvPr id="26" name="Text 23"/>
          <p:cNvSpPr/>
          <p:nvPr/>
        </p:nvSpPr>
        <p:spPr>
          <a:xfrm>
            <a:off x="14826109" y="9458325"/>
            <a:ext cx="24903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PITCHDECK — 2026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514350"/>
            <a:ext cx="11324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2275433" y="647700"/>
            <a:ext cx="14491543" cy="9525"/>
          </a:xfrm>
          <a:prstGeom prst="rect">
            <a:avLst/>
          </a:prstGeom>
          <a:solidFill>
            <a:srgbClr val="B8C7F9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938427" y="514350"/>
            <a:ext cx="3780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9614535" cy="2390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300" b="1" spc="-9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A </a:t>
            </a:r>
            <a:pPr algn="l" indent="0" marL="0">
              <a:lnSpc>
                <a:spcPct val="98000"/>
              </a:lnSpc>
              <a:buNone/>
            </a:pPr>
            <a:r>
              <a:rPr lang="en-US" sz="6300" b="1" spc="-94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COLOSSEUM </a:t>
            </a:r>
            <a:pPr algn="l" indent="0" marL="0">
              <a:lnSpc>
                <a:spcPct val="98000"/>
              </a:lnSpc>
              <a:buNone/>
            </a:pPr>
            <a:r>
              <a:rPr lang="en-US" sz="6300" b="1" spc="-9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 SLOT.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1047750" y="4142780"/>
            <a:ext cx="9334500" cy="561975"/>
          </a:xfrm>
          <a:prstGeom prst="rect">
            <a:avLst/>
          </a:prstGeom>
          <a:solidFill>
            <a:srgbClr val="1E56F5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142780"/>
            <a:ext cx="28575" cy="561975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8" name="Text 6"/>
          <p:cNvSpPr/>
          <p:nvPr/>
        </p:nvSpPr>
        <p:spPr>
          <a:xfrm>
            <a:off x="1285875" y="4276130"/>
            <a:ext cx="1790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190875" y="4299942"/>
            <a:ext cx="38134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funding · 12 months runway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47750" y="4838105"/>
            <a:ext cx="9334500" cy="561975"/>
          </a:xfrm>
          <a:prstGeom prst="rect">
            <a:avLst/>
          </a:prstGeom>
          <a:solidFill>
            <a:srgbClr val="1E56F5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4838105"/>
            <a:ext cx="28575" cy="561975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5875" y="4971455"/>
            <a:ext cx="1790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190875" y="4995267"/>
            <a:ext cx="33630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 agentic infrastructure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47750" y="5533430"/>
            <a:ext cx="9334500" cy="561975"/>
          </a:xfrm>
          <a:prstGeom prst="rect">
            <a:avLst/>
          </a:prstGeom>
          <a:solidFill>
            <a:srgbClr val="1E56F5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5533430"/>
            <a:ext cx="28575" cy="561975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16" name="Text 14"/>
          <p:cNvSpPr/>
          <p:nvPr/>
        </p:nvSpPr>
        <p:spPr>
          <a:xfrm>
            <a:off x="1285875" y="5666780"/>
            <a:ext cx="19880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388221" y="5690592"/>
            <a:ext cx="37466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 opens x402 ecosystem doors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906250" y="1714500"/>
            <a:ext cx="1303139" cy="361950"/>
          </a:xfrm>
          <a:prstGeom prst="rect">
            <a:avLst/>
          </a:prstGeom>
          <a:solidFill>
            <a:srgbClr val="1E56F5"/>
          </a:solidFill>
          <a:ln/>
        </p:spPr>
      </p:sp>
      <p:sp>
        <p:nvSpPr>
          <p:cNvPr id="19" name="Text 17"/>
          <p:cNvSpPr/>
          <p:nvPr/>
        </p:nvSpPr>
        <p:spPr>
          <a:xfrm>
            <a:off x="12039600" y="1790700"/>
            <a:ext cx="11126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906250" y="2286000"/>
            <a:ext cx="5494020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2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ERNANI BRITTO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1906250" y="2756446"/>
            <a:ext cx="54940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YRS ENG · LIVED THE PAIN TWICE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906250" y="3204121"/>
            <a:ext cx="5494020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2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CO-FOUNDER · DESIGN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1906250" y="3674566"/>
            <a:ext cx="54940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SUPERTEAMBR · BRAZIL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906250" y="4274641"/>
            <a:ext cx="5334000" cy="1152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115800" y="4465141"/>
            <a:ext cx="50623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· ONE URL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115800" y="4741366"/>
            <a:ext cx="50623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A0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app.geckovision.tech/ skill.md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47750" y="8311753"/>
            <a:ext cx="1088993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spc="-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YOU'VE EVER WASTED SIX MONTHS BUILDING THE WRONG THING — </a:t>
            </a:r>
            <a:pPr algn="l" indent="0" marL="0">
              <a:lnSpc>
                <a:spcPct val="120000"/>
              </a:lnSpc>
              <a:buNone/>
            </a:pPr>
            <a:r>
              <a:rPr lang="en-US" sz="1950" spc="-19" kern="0" dirty="0">
                <a:solidFill>
                  <a:srgbClr val="1E5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 EXISTS SO THE NEXT FOUNDER DOESN'T HAVE TO.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47750" y="9020175"/>
            <a:ext cx="108899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ERNANI@GECKOVISION.TECH · GECKOVISION.TECH · GITHUB.COM/GECKO</a:t>
            </a:r>
            <a:endParaRPr lang="en-US" sz="13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534525"/>
            <a:ext cx="26670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09700" y="9525000"/>
            <a:ext cx="7688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0" b="1" spc="-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</a:t>
            </a:r>
            <a:endParaRPr lang="en-US" sz="1890" dirty="0"/>
          </a:p>
        </p:txBody>
      </p:sp>
      <p:sp>
        <p:nvSpPr>
          <p:cNvPr id="31" name="Text 28"/>
          <p:cNvSpPr/>
          <p:nvPr/>
        </p:nvSpPr>
        <p:spPr>
          <a:xfrm>
            <a:off x="14826109" y="9458325"/>
            <a:ext cx="24903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8C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PITCHDECK — 2026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2026-04-26T21:17:04Z</dcterms:created>
  <dcterms:modified xsi:type="dcterms:W3CDTF">2026-04-26T21:17:04Z</dcterms:modified>
</cp:coreProperties>
</file>